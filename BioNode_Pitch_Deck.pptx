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bin" panose="020B0604020202020204" charset="0"/>
      <p:regular r:id="rId13"/>
    </p:embeddedFont>
    <p:embeddedFont>
      <p:font typeface="Cabin Bold" panose="020B0604020202020204" charset="0"/>
      <p:regular r:id="rId14"/>
    </p:embeddedFont>
    <p:embeddedFont>
      <p:font typeface="Unbounde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13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jpe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2466"/>
            <a:ext cx="8096845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BioNode — AIoT BioCNG Micro-Refinery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3577" y="856357"/>
            <a:ext cx="8096845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DD64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Water hyacinth in. 200-bar vehicle-grade BioCNG out. Autonomously. At the bus terminal.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1201787"/>
            <a:ext cx="8554045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BEAR Summit 2026 · CES Pavilion Top 10 · Novo Theatre, Dhaka · 25–26 July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23577" y="1507703"/>
            <a:ext cx="8096845" cy="438076"/>
          </a:xfrm>
          <a:prstGeom prst="roundRect">
            <a:avLst>
              <a:gd name="adj" fmla="val 432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23577" y="1507703"/>
            <a:ext cx="2698924" cy="438076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9784" y="1633910"/>
            <a:ext cx="244651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pipeline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22501" y="1507703"/>
            <a:ext cx="2698924" cy="438076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22501" y="1507703"/>
            <a:ext cx="14288" cy="438076"/>
          </a:xfrm>
          <a:prstGeom prst="roundRect">
            <a:avLst>
              <a:gd name="adj" fmla="val 132527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348707" y="1633910"/>
            <a:ext cx="244651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import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21425" y="1507703"/>
            <a:ext cx="2698924" cy="438076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21425" y="1507703"/>
            <a:ext cx="14288" cy="438076"/>
          </a:xfrm>
          <a:prstGeom prst="roundRect">
            <a:avLst>
              <a:gd name="adj" fmla="val 132527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047631" y="1633910"/>
            <a:ext cx="2446511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chemist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3577" y="2128689"/>
            <a:ext cx="3981822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500K+</a:t>
            </a:r>
            <a:endParaRPr lang="en-US" sz="3250" dirty="0"/>
          </a:p>
        </p:txBody>
      </p:sp>
      <p:sp>
        <p:nvSpPr>
          <p:cNvPr id="15" name="Text 13"/>
          <p:cNvSpPr/>
          <p:nvPr/>
        </p:nvSpPr>
        <p:spPr>
          <a:xfrm>
            <a:off x="523577" y="2688208"/>
            <a:ext cx="3981822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CNG vehicles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3577" y="2937718"/>
            <a:ext cx="3981822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Bangladesh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38526" y="2128689"/>
            <a:ext cx="3981896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95%</a:t>
            </a:r>
            <a:endParaRPr lang="en-US" sz="3250" dirty="0"/>
          </a:p>
        </p:txBody>
      </p:sp>
      <p:sp>
        <p:nvSpPr>
          <p:cNvPr id="18" name="Text 16"/>
          <p:cNvSpPr/>
          <p:nvPr/>
        </p:nvSpPr>
        <p:spPr>
          <a:xfrm>
            <a:off x="4638526" y="2688208"/>
            <a:ext cx="398189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Fuel-import dependency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38526" y="2937718"/>
            <a:ext cx="398189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paid in scarce foreign exchange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3577" y="3399904"/>
            <a:ext cx="3981822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200 bar</a:t>
            </a:r>
            <a:endParaRPr lang="en-US" sz="3250" dirty="0"/>
          </a:p>
        </p:txBody>
      </p:sp>
      <p:sp>
        <p:nvSpPr>
          <p:cNvPr id="21" name="Text 19"/>
          <p:cNvSpPr/>
          <p:nvPr/>
        </p:nvSpPr>
        <p:spPr>
          <a:xfrm>
            <a:off x="523577" y="3959423"/>
            <a:ext cx="3981822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Output pressure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3577" y="4208934"/>
            <a:ext cx="3981822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vehicle-grade BioCNG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8526" y="3399904"/>
            <a:ext cx="3981896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≥95%</a:t>
            </a:r>
            <a:endParaRPr lang="en-US" sz="3250" dirty="0"/>
          </a:p>
        </p:txBody>
      </p:sp>
      <p:sp>
        <p:nvSpPr>
          <p:cNvPr id="24" name="Text 22"/>
          <p:cNvSpPr/>
          <p:nvPr/>
        </p:nvSpPr>
        <p:spPr>
          <a:xfrm>
            <a:off x="4638526" y="3959423"/>
            <a:ext cx="398189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CH₄ purity target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38526" y="4208934"/>
            <a:ext cx="398189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vehicle-grade quality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4977" y="4514850"/>
            <a:ext cx="8554045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Team BioNode · Silicon River · Built in Bangladesh. Fuel for the World.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28179"/>
            <a:ext cx="4667845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Two national crises. One machine connects them.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952577" y="1291382"/>
            <a:ext cx="51250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Nobody today links these two problems — that is the entire opportunity.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1578769"/>
            <a:ext cx="4667845" cy="12147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45533" y="1714574"/>
            <a:ext cx="433908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8DD64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fuel crisis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145533" y="1952551"/>
            <a:ext cx="4339084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Bangladesh's 500,000+ CNG vehicles run on fuel that is 95% imported, paid in scarce foreign exchange. When Middle East supply shocks hit in 2022–2024, CNG prices surged and hundreds of thousands of drivers lost income overnight. No local alternative exists.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2892251"/>
            <a:ext cx="4667845" cy="8621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45533" y="3028057"/>
            <a:ext cx="433908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8DD64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waterway crisis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145533" y="3266033"/>
            <a:ext cx="4339084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Water hyacinth — a zero-value invasive weed — chokes 30%+ of the country's navigable waterways, costing millions annually to clear and generating nothing.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3853160"/>
            <a:ext cx="4667845" cy="8621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45533" y="3988966"/>
            <a:ext cx="433908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8DD64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missing link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145533" y="4226942"/>
            <a:ext cx="4339084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solution today converts the free weed into the fuel drivers need. BioNode is that link.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6084"/>
            <a:ext cx="8096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Solution: a refinery the size of a shipping container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23577" y="913284"/>
            <a:ext cx="85540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Water hyacinth goes in one end. Vehicle-grade BioCNG comes out the other — on-site, at the terminal, autonomously. Four integrated stages inside one ruggedized enclosure: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66986"/>
            <a:ext cx="5173117" cy="274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8865" y="3325258"/>
            <a:ext cx="1370000" cy="30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Anaerobic Digestion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8865" y="3671488"/>
            <a:ext cx="1370000" cy="21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Bacteria convert water‑hyacinth to raw biogas.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14892" y="1734889"/>
            <a:ext cx="1203724" cy="15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H₂S Scrubbing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8616" y="1930743"/>
            <a:ext cx="1370000" cy="21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Iron‑sponge removes hydrogen sulfide &gt;99%.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18325" y="1734889"/>
            <a:ext cx="1203723" cy="15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CO₂ Separation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718325" y="1930743"/>
            <a:ext cx="1369999" cy="21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Membrane raises methane purity to ≥95%.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01520" y="3325347"/>
            <a:ext cx="1369999" cy="30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Multi‑Stage Compression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01520" y="3671577"/>
            <a:ext cx="1369999" cy="21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Compress biomethane to 200 bar for CNG.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3577" y="4190181"/>
            <a:ext cx="5173117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entire fuel supply chain collapses into a single container. Feedstock comes from the adjacent canal. No pipeline, no truck delivery, no import.</a:t>
            </a:r>
            <a:endParaRPr lang="en-US" sz="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8036" y="1222995"/>
            <a:ext cx="2667074" cy="7540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03813" y="1501378"/>
            <a:ext cx="157758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66954" y="1342430"/>
            <a:ext cx="2038722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Anaerobic Digestion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466954" y="1570955"/>
            <a:ext cx="2038722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Bacteria convert water-hyacinth biomass into raw biogas.</a:t>
            </a:r>
            <a:endParaRPr lang="en-US" sz="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8036" y="2050926"/>
            <a:ext cx="2667074" cy="7540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03813" y="2329309"/>
            <a:ext cx="157758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66954" y="2170361"/>
            <a:ext cx="2038722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H₂S Scrubbing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66954" y="2398886"/>
            <a:ext cx="2038722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Iron-sponge module removes hydrogen sulfide (&gt;99% removal).</a:t>
            </a:r>
            <a:endParaRPr lang="en-US" sz="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8036" y="2878857"/>
            <a:ext cx="2667074" cy="7540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03813" y="3157240"/>
            <a:ext cx="157758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66954" y="2998291"/>
            <a:ext cx="2038722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CO₂ Separation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466954" y="3226817"/>
            <a:ext cx="2038722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Membrane stage lifts methane to ≥95% purity.</a:t>
            </a:r>
            <a:endParaRPr lang="en-US" sz="8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8036" y="3706788"/>
            <a:ext cx="2667074" cy="8973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03813" y="4056831"/>
            <a:ext cx="157758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66954" y="3826222"/>
            <a:ext cx="2038722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Multi-Stage Compression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466954" y="4054748"/>
            <a:ext cx="2038722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Biomethane compressed to 200 bar — standard vehicle CNG pressure — filling cylinders on-site.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56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1435"/>
            <a:ext cx="4667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day at Gabtoli terminal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3577" y="904577"/>
            <a:ext cx="5125045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BioNode unit sits at Gabtoli bus terminal in Dhaka, beside the Turag canal.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57671" y="1182737"/>
            <a:ext cx="14288" cy="3033340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478" y="1309687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23577" y="1182737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73546" y="1211647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53803" y="1223665"/>
            <a:ext cx="393762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Morning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53803" y="1455986"/>
            <a:ext cx="3937620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Local workers harvest water hyacinth from the canal and load the digester.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478" y="1944216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23577" y="1817266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73546" y="1846176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53803" y="1858194"/>
            <a:ext cx="393762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All Day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53803" y="2090514"/>
            <a:ext cx="3937620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Edge-AI control loop runs continuously — adjusting pH and temperature through the PLC, monitoring gas quality, managing compression, with no human intervention.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478" y="2921347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23577" y="2794397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73546" y="2823307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53803" y="2835325"/>
            <a:ext cx="393762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By 6 AM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53803" y="3067645"/>
            <a:ext cx="3937620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unit has filled a batch of cylinders at 200 bar.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7478" y="3555876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523577" y="3428926"/>
            <a:ext cx="268188" cy="26818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73546" y="3457835"/>
            <a:ext cx="168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53803" y="3469853"/>
            <a:ext cx="393762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Drivers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53803" y="3702174"/>
            <a:ext cx="3937620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Auto-rickshaw and bus operators fill up at ~20% below the imported CNG rate. The terminal operator earns a daily revenue share. The canal is cleared of weed as a byproduct.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23577" y="4322936"/>
            <a:ext cx="4667845" cy="411287"/>
          </a:xfrm>
          <a:prstGeom prst="roundRect">
            <a:avLst>
              <a:gd name="adj" fmla="val 4348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89" y="4481885"/>
            <a:ext cx="148977" cy="11921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10977" y="4447654"/>
            <a:ext cx="461843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same cycle repeats every day — recurring, on-site revenue.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4567"/>
            <a:ext cx="8096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AI is the operating condition — not a feature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23577" y="921767"/>
            <a:ext cx="8096845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Anaerobic digestion is biologically fragile: small deviations in pH, temperature, or organic loading can crash the digester and halt gas production for days. Autonomous terminal deployment is impossible without intelligent control.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519535"/>
            <a:ext cx="5173117" cy="293139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8036" y="1374800"/>
            <a:ext cx="262979" cy="2629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3438" y="1374800"/>
            <a:ext cx="2311673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Sensing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313438" y="1603325"/>
            <a:ext cx="2311673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real-time array measures pH, temperature, pressure, and gas composition continuously.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8036" y="2037829"/>
            <a:ext cx="262979" cy="2629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13438" y="2037829"/>
            <a:ext cx="2311673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Deciding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6313438" y="2266355"/>
            <a:ext cx="2311673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embedded inference engine processes the data and issues corrections via the PLC to solenoid valves, heating elements, and feed pumps — holding optimal digester conditions 24/7.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8036" y="2987501"/>
            <a:ext cx="262979" cy="2629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13438" y="2987501"/>
            <a:ext cx="2311673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313438" y="3216027"/>
            <a:ext cx="2311673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AI load-shifts between the floating solar array, battery buffer, and grid to maximise efficiency.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58036" y="3650531"/>
            <a:ext cx="262979" cy="26297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13438" y="3650531"/>
            <a:ext cx="2311673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Proof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6313438" y="3879056"/>
            <a:ext cx="2311673" cy="716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live dashboard already runs today, catching a simulated pH fault and auto-correcting it. Without AI, BioNode is a manual biogas plant needing a biochemist on-site daily — and the Energy-as-a-Service model collapses.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Four things no existing system does at once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523577" y="706189"/>
            <a:ext cx="4029745" cy="633413"/>
          </a:xfrm>
          <a:prstGeom prst="roundRect">
            <a:avLst>
              <a:gd name="adj" fmla="val 177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98363" y="780976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053" y="842590"/>
            <a:ext cx="100980" cy="100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363" y="1042690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Edge-AI Autonomy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98363" y="1175072"/>
            <a:ext cx="388017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24/7 pH / temperature / gas control replaces the trained operator.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4590678" y="706189"/>
            <a:ext cx="4029745" cy="633413"/>
          </a:xfrm>
          <a:prstGeom prst="roundRect">
            <a:avLst>
              <a:gd name="adj" fmla="val 177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665464" y="780976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7153" y="842590"/>
            <a:ext cx="100980" cy="1009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5464" y="1042690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Zero Supply Chain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4665464" y="1175072"/>
            <a:ext cx="388017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unit sits at the point of consumption; feedstock is harvested locally, eliminating pipeline and truck dependency.</a:t>
            </a:r>
            <a:endParaRPr lang="en-US" sz="550" dirty="0"/>
          </a:p>
        </p:txBody>
      </p:sp>
      <p:sp>
        <p:nvSpPr>
          <p:cNvPr id="13" name="Shape 9"/>
          <p:cNvSpPr/>
          <p:nvPr/>
        </p:nvSpPr>
        <p:spPr>
          <a:xfrm>
            <a:off x="523577" y="1376958"/>
            <a:ext cx="4029745" cy="723156"/>
          </a:xfrm>
          <a:prstGeom prst="roundRect">
            <a:avLst>
              <a:gd name="adj" fmla="val 155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598363" y="1451744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053" y="1513359"/>
            <a:ext cx="100980" cy="1009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8363" y="1713458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Full End-to-End in One Enclosure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598363" y="1845841"/>
            <a:ext cx="388017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Raw biomass to 200-bar compressed vehicle fuel — no off-site step.</a:t>
            </a:r>
            <a:endParaRPr lang="en-US" sz="550" dirty="0"/>
          </a:p>
        </p:txBody>
      </p:sp>
      <p:sp>
        <p:nvSpPr>
          <p:cNvPr id="18" name="Shape 13"/>
          <p:cNvSpPr/>
          <p:nvPr/>
        </p:nvSpPr>
        <p:spPr>
          <a:xfrm>
            <a:off x="4590678" y="1376958"/>
            <a:ext cx="4029745" cy="723156"/>
          </a:xfrm>
          <a:prstGeom prst="roundRect">
            <a:avLst>
              <a:gd name="adj" fmla="val 155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4665464" y="1451744"/>
            <a:ext cx="224358" cy="224358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7153" y="1513359"/>
            <a:ext cx="100980" cy="1009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5464" y="1713458"/>
            <a:ext cx="388017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Solar–Water Symbiosis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4665464" y="1845841"/>
            <a:ext cx="3880172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floating aquavoltaic array on the same canal powers the control system through load-shedding; one water body supplies feedstock, cools the panels, and hosts the array.</a:t>
            </a:r>
            <a:endParaRPr lang="en-US" sz="550" dirty="0"/>
          </a:p>
        </p:txBody>
      </p:sp>
      <p:sp>
        <p:nvSpPr>
          <p:cNvPr id="23" name="Text 17"/>
          <p:cNvSpPr/>
          <p:nvPr/>
        </p:nvSpPr>
        <p:spPr>
          <a:xfrm>
            <a:off x="523577" y="3956372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competitors fall short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523577" y="4103712"/>
            <a:ext cx="395719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Imported CNG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depends entirely on forex and global supply chains. </a:t>
            </a:r>
            <a:r>
              <a:rPr lang="en-US" sz="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Rural biogas plants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make dilute, low-pressure cooking gas needing daily manual supervision. </a:t>
            </a:r>
            <a:r>
              <a:rPr lang="en-US" sz="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Industrial upgrading</a:t>
            </a: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needs multi-crore capital and imported equipment on 3-month LC cycles. None connect the free feedstock to vehicle-grade fuel. </a:t>
            </a:r>
            <a:r>
              <a:rPr lang="en-US" sz="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BioNode does.</a:t>
            </a:r>
            <a:endParaRPr lang="en-US" sz="5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994" y="2184202"/>
            <a:ext cx="3957191" cy="39571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5500"/>
            <a:ext cx="8096845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Where we are — honestly — and the 3-month MVP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316757"/>
            <a:ext cx="8554045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are deliberately transparent about maturity: the idea is CES-gold, but a CES booth needs a machine that runs flawlessly for days. Here is the truth and the plan.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64856" y="1594917"/>
            <a:ext cx="14288" cy="3123084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228654" y="2189634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27314" y="2152092"/>
            <a:ext cx="89371" cy="89371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23577" y="1594917"/>
            <a:ext cx="3690789" cy="1203722"/>
          </a:xfrm>
          <a:prstGeom prst="roundRect">
            <a:avLst>
              <a:gd name="adj" fmla="val 148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371255" y="1714128"/>
            <a:ext cx="723900" cy="181124"/>
          </a:xfrm>
          <a:prstGeom prst="roundRect">
            <a:avLst>
              <a:gd name="adj" fmla="val 7899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42767" y="1749847"/>
            <a:ext cx="580876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DONE TODAY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2789" y="1933203"/>
            <a:ext cx="345236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Architecture &amp;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89" y="2165524"/>
            <a:ext cx="3452366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system architecture and AIoT control design; live Edge-AI dashboard prototype; finalised 13-item BOM; local sourcing secured (Nawabpur electronics, Dholaikhal fabrication).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57713" y="2856458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27314" y="2818916"/>
            <a:ext cx="89371" cy="89371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929634" y="2261741"/>
            <a:ext cx="3690789" cy="1203722"/>
          </a:xfrm>
          <a:prstGeom prst="roundRect">
            <a:avLst>
              <a:gd name="adj" fmla="val 148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048845" y="2380952"/>
            <a:ext cx="1142033" cy="181124"/>
          </a:xfrm>
          <a:prstGeom prst="roundRect">
            <a:avLst>
              <a:gd name="adj" fmla="val 7899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120357" y="2416671"/>
            <a:ext cx="999009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BUILDING FOR SUMMIT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48845" y="2600027"/>
            <a:ext cx="345236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Bench-Scale Demo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8845" y="2832348"/>
            <a:ext cx="3452366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Bench-scale 50-litre digester producing first measurable biogas, H₂S scrubbing on the output, and a 72-hour autonomous AI run — water hyacinth in, purified biomethane confirmed out, dashboard live.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28654" y="3497684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27314" y="3460142"/>
            <a:ext cx="89371" cy="89371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23577" y="2988618"/>
            <a:ext cx="3690789" cy="1032421"/>
          </a:xfrm>
          <a:prstGeom prst="roundRect">
            <a:avLst>
              <a:gd name="adj" fmla="val 173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979465" y="3107829"/>
            <a:ext cx="1115690" cy="181124"/>
          </a:xfrm>
          <a:prstGeom prst="roundRect">
            <a:avLst>
              <a:gd name="adj" fmla="val 7899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050977" y="3143548"/>
            <a:ext cx="972666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 · JUL → NOV 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2789" y="3326904"/>
            <a:ext cx="345236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Mentored MVP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789" y="3559225"/>
            <a:ext cx="345236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Close the full chain to a fillable cylinder, add professional casing and branded interfaces, and stand up the first costed pilot unit.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57713" y="4194572"/>
            <a:ext cx="357634" cy="14288"/>
          </a:xfrm>
          <a:prstGeom prst="roundRect">
            <a:avLst>
              <a:gd name="adj" fmla="val 125164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527314" y="4157030"/>
            <a:ext cx="89371" cy="89371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929634" y="3685505"/>
            <a:ext cx="3690789" cy="1032421"/>
          </a:xfrm>
          <a:prstGeom prst="roundRect">
            <a:avLst>
              <a:gd name="adj" fmla="val 173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048845" y="3804717"/>
            <a:ext cx="840804" cy="181124"/>
          </a:xfrm>
          <a:prstGeom prst="roundRect">
            <a:avLst>
              <a:gd name="adj" fmla="val 7899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120357" y="3840435"/>
            <a:ext cx="697781" cy="10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PILOT · JAN 2027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48845" y="4023792"/>
            <a:ext cx="345236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3-Unit Dhaka Pilot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48845" y="4256112"/>
            <a:ext cx="345236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Gabtoli, Sayedabad, Mohakhali — with real field numbers: kg of BioCNG sold, to how many drivers, over how many days.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2575"/>
            <a:ext cx="8096845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Market &amp; business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23577" y="836861"/>
            <a:ext cx="8554045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Energy-as-a-Service:</a:t>
            </a: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BioNode owns, operates, and sells — recurring daily revenue from every unit.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23577" y="1045443"/>
            <a:ext cx="4017169" cy="285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$880M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77" y="1411560"/>
            <a:ext cx="4017169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Bangladesh TAM/yr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23577" y="1568648"/>
            <a:ext cx="4017169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CNG vehicle fuel market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603179" y="1045443"/>
            <a:ext cx="4017243" cy="285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$44M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03179" y="1411560"/>
            <a:ext cx="401724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 ARR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3179" y="1568648"/>
            <a:ext cx="4017243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5% market share by Year 5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23577" y="1820987"/>
            <a:ext cx="4017169" cy="285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$2.8B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577" y="2187104"/>
            <a:ext cx="4017169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Global TAM by 2032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3577" y="2344192"/>
            <a:ext cx="4017169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Invasive-biomass fuel markets across Vietnam, Nigeria, Myanmar, Pakistan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603179" y="1820987"/>
            <a:ext cx="4017243" cy="285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$375K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3179" y="2187104"/>
            <a:ext cx="401724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Carbon Revenue/yr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3179" y="2344192"/>
            <a:ext cx="4017243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At Dhaka pilot scale; CO₂ offset ~15,000 tonnes/yr at 200-unit scale</a:t>
            </a:r>
            <a:endParaRPr lang="en-US" sz="6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796778"/>
            <a:ext cx="5189041" cy="14226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9065" y="3310855"/>
            <a:ext cx="784154" cy="264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Jan 2027 Pilot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9065" y="3614906"/>
            <a:ext cx="784154" cy="17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3-unit pilot launch &amp; CES demo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207396" y="3273882"/>
            <a:ext cx="784154" cy="264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2027 Rollout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207396" y="3577933"/>
            <a:ext cx="784154" cy="17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20-unit Dhaka launch &amp; Series 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285696" y="3310855"/>
            <a:ext cx="784154" cy="264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2028 Expansion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285696" y="3614906"/>
            <a:ext cx="784154" cy="17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Regional scaling across markets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354011" y="3405939"/>
            <a:ext cx="784154" cy="13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2030 Scale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54011" y="3577933"/>
            <a:ext cx="784154" cy="17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500 units &amp; carbon platform live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23577" y="4275609"/>
            <a:ext cx="5646241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first revenue arrives the day a unit is switched on.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928420" y="2559472"/>
            <a:ext cx="2696691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streams</a:t>
            </a:r>
            <a:endParaRPr lang="en-US" sz="8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8420" y="2742754"/>
            <a:ext cx="2696691" cy="5873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062514" y="2838748"/>
            <a:ext cx="246660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BioCNG Sales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062514" y="3015779"/>
            <a:ext cx="2466603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Daily fuel sales at ~20% below imported CNG rate — competitive and profitable from day one.</a:t>
            </a:r>
            <a:endParaRPr lang="en-US" sz="6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8420" y="3380036"/>
            <a:ext cx="2696691" cy="5873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062514" y="3476030"/>
            <a:ext cx="246660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Carbon Credits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062514" y="3653061"/>
            <a:ext cx="2466603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$225K–$375K/yr at pilot scale; scales to ~50M tonnes CO₂ offset at 10,000-unit deployment.</a:t>
            </a:r>
            <a:endParaRPr lang="en-US" sz="6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8420" y="4017318"/>
            <a:ext cx="2696691" cy="58735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062514" y="4113312"/>
            <a:ext cx="2466603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Terminal Revenue Share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062514" y="4290343"/>
            <a:ext cx="2466603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Operators earn daily share — aligning incentives and securing local partnerships.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33462"/>
            <a:ext cx="4667845" cy="26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2036: not a machine — a platform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523577" y="784845"/>
            <a:ext cx="4667845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If BioNode succeeds beyond our wildest expectations, it becomes the global standard for decentralised clean fuel in the Global South — the way solar panels became the standard for rural electrification.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23577" y="1127522"/>
            <a:ext cx="4667845" cy="30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10,000+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523577" y="1515517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Units deployed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23577" y="1682800"/>
            <a:ext cx="466784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Across 50+ countries, connected to one cloud data layer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23577" y="1956792"/>
            <a:ext cx="4667845" cy="30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1B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523577" y="2344787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People served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23577" y="2512070"/>
            <a:ext cx="466784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With access to locally produced clean vehicle fuel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23577" y="2786063"/>
            <a:ext cx="4667845" cy="30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50M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523577" y="3174057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Tonnes CO₂/yr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3577" y="3341340"/>
            <a:ext cx="466784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Offset at full global scale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3577" y="3615333"/>
            <a:ext cx="4667845" cy="30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50+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523577" y="4003328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Countries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3577" y="4170611"/>
            <a:ext cx="466784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Micro-refinery manufacturing, maintenance, and feedstock logistics — a new industry built in Bangladesh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23577" y="4350395"/>
            <a:ext cx="9525" cy="359569"/>
          </a:xfrm>
          <a:prstGeom prst="roundRect">
            <a:avLst>
              <a:gd name="adj" fmla="val 6000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60276" y="4412828"/>
            <a:ext cx="4531147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Bangladesh stops importing fuel — and starts exporting clean-energy technology. Silicon River's first globally scaled deep-tech company.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6399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BioNode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28365"/>
            <a:ext cx="8096845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00" dirty="0">
                <a:solidFill>
                  <a:srgbClr val="8DD64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See the live demo at our booth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94977" y="276716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Water hyacinth in. BioCNG out.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3577" y="3212157"/>
            <a:ext cx="8096845" cy="19050"/>
          </a:xfrm>
          <a:prstGeom prst="roundRect">
            <a:avLst>
              <a:gd name="adj" fmla="val 60000"/>
            </a:avLst>
          </a:prstGeom>
          <a:solidFill>
            <a:srgbClr val="CAD6DE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23577" y="3436813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Team BioNode · Silicon River</a:t>
            </a:r>
            <a:endParaRPr lang="en-US" sz="11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BEAR Summit 2026 · CES Pavilion Top 10 · Novo Theatre, Dhaka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83544" y="4250119"/>
            <a:ext cx="2698775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  <p:txBody>
          <a:bodyPr/>
          <a:lstStyle/>
          <a:p>
            <a:pPr algn="ctr"/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3044687" y="4296966"/>
            <a:ext cx="297648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IN BANGLADESH. FUEL FOR THE WORLD.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1351</Words>
  <Application>Microsoft Office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Unbounded</vt:lpstr>
      <vt:lpstr>Cabin Bold</vt:lpstr>
      <vt:lpstr>Cabin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</cp:lastModifiedBy>
  <cp:revision>2</cp:revision>
  <dcterms:created xsi:type="dcterms:W3CDTF">2026-07-17T16:16:36Z</dcterms:created>
  <dcterms:modified xsi:type="dcterms:W3CDTF">2026-07-18T07:57:59Z</dcterms:modified>
</cp:coreProperties>
</file>